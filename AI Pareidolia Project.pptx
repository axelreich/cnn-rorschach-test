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Roboto Mono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A8AADF-B224-42E3-868C-59CDC54D7AEF}">
  <a:tblStyle styleId="{D6A8AADF-B224-42E3-868C-59CDC54D7A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35" Type="http://schemas.openxmlformats.org/officeDocument/2006/relationships/font" Target="fonts/DMSans-regular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37" Type="http://schemas.openxmlformats.org/officeDocument/2006/relationships/font" Target="fonts/DMSans-italic.fntdata"/><Relationship Id="rId14" Type="http://schemas.openxmlformats.org/officeDocument/2006/relationships/slide" Target="slides/slide8.xml"/><Relationship Id="rId36" Type="http://schemas.openxmlformats.org/officeDocument/2006/relationships/font" Target="fonts/DM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DM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14f412416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14f41241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4f412416_5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14f412416_5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871f643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d871f643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871f643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d871f64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14f412416_5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14f412416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14f412416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914f412416_4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14f412416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914f412416_4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14f412416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914f412416_4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9.png"/><Relationship Id="rId11" Type="http://schemas.openxmlformats.org/officeDocument/2006/relationships/image" Target="../media/image36.png"/><Relationship Id="rId22" Type="http://schemas.openxmlformats.org/officeDocument/2006/relationships/image" Target="../media/image43.png"/><Relationship Id="rId10" Type="http://schemas.openxmlformats.org/officeDocument/2006/relationships/image" Target="../media/image26.png"/><Relationship Id="rId21" Type="http://schemas.openxmlformats.org/officeDocument/2006/relationships/image" Target="../media/image42.png"/><Relationship Id="rId13" Type="http://schemas.openxmlformats.org/officeDocument/2006/relationships/image" Target="../media/image27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9" Type="http://schemas.openxmlformats.org/officeDocument/2006/relationships/image" Target="../media/image34.png"/><Relationship Id="rId15" Type="http://schemas.openxmlformats.org/officeDocument/2006/relationships/image" Target="../media/image29.png"/><Relationship Id="rId14" Type="http://schemas.openxmlformats.org/officeDocument/2006/relationships/image" Target="../media/image33.png"/><Relationship Id="rId17" Type="http://schemas.openxmlformats.org/officeDocument/2006/relationships/image" Target="../media/image31.png"/><Relationship Id="rId16" Type="http://schemas.openxmlformats.org/officeDocument/2006/relationships/image" Target="../media/image32.png"/><Relationship Id="rId5" Type="http://schemas.openxmlformats.org/officeDocument/2006/relationships/image" Target="../media/image24.png"/><Relationship Id="rId19" Type="http://schemas.openxmlformats.org/officeDocument/2006/relationships/image" Target="../media/image45.png"/><Relationship Id="rId6" Type="http://schemas.openxmlformats.org/officeDocument/2006/relationships/image" Target="../media/image18.png"/><Relationship Id="rId18" Type="http://schemas.openxmlformats.org/officeDocument/2006/relationships/image" Target="../media/image47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81000" y="2428875"/>
            <a:ext cx="10771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Rorschach Inkblots: </a:t>
            </a:r>
            <a:r>
              <a:rPr b="0" i="0" lang="en-US" sz="75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AI Pareidolia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81000" y="4737675"/>
            <a:ext cx="1025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Exploring Artificial Perception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6950" y="5153175"/>
            <a:ext cx="85605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Tanner Rohloff, Axel Reich</a:t>
            </a:r>
            <a:endParaRPr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7" name="Google Shape;87;p13" title="Screenshot 2025-12-04 at 3.02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125" y="3883388"/>
            <a:ext cx="3260642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Screenshot 2025-12-04 at 3.02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6067" y="3883388"/>
            <a:ext cx="2878681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333000" y="1216450"/>
            <a:ext cx="11669100" cy="4926300"/>
          </a:xfrm>
          <a:prstGeom prst="roundRect">
            <a:avLst>
              <a:gd fmla="val 16667" name="adj"/>
            </a:avLst>
          </a:prstGeom>
          <a:solidFill>
            <a:srgbClr val="00508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53550" y="401650"/>
            <a:ext cx="5286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Pareidolia</a:t>
            </a:r>
            <a:endParaRPr b="1" sz="36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21975" y="1477900"/>
            <a:ext cx="11008800" cy="43626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62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he psychological phenomenon where the mind perceives a familiar pattern of something where none actually exists like seeing a face in a cloud or an animal in an inkblot.</a:t>
            </a:r>
            <a:endParaRPr sz="162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Can cause people to see faces in things that aren’t faces, such as in a tree or on a fish.</a:t>
            </a:r>
            <a:endParaRPr sz="162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Famous examples include the face on mars, or the image of the virgin mary on the grilled cheese.</a:t>
            </a:r>
            <a:endParaRPr sz="1625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6" name="Google Shape;96;p14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250" y="3349150"/>
            <a:ext cx="2456825" cy="21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1250" y="5498875"/>
            <a:ext cx="2281500" cy="3417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Face on Mars</a:t>
            </a:r>
            <a:endParaRPr sz="11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4437" y="3349150"/>
            <a:ext cx="2149725" cy="21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034425" y="5498875"/>
            <a:ext cx="1926300" cy="2064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3F0DF"/>
                </a:solidFill>
                <a:latin typeface="Calibri"/>
                <a:ea typeface="Calibri"/>
                <a:cs typeface="Calibri"/>
                <a:sym typeface="Calibri"/>
              </a:rPr>
              <a:t>Virgin Mary Grilled Cheese</a:t>
            </a:r>
            <a:endParaRPr sz="1100">
              <a:solidFill>
                <a:srgbClr val="F3F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title="tree-4721608_128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5175" y="3763900"/>
            <a:ext cx="2603450" cy="1734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295175" y="5498875"/>
            <a:ext cx="2035500" cy="2064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3F0DF"/>
                </a:solidFill>
                <a:latin typeface="Calibri"/>
                <a:ea typeface="Calibri"/>
                <a:cs typeface="Calibri"/>
                <a:sym typeface="Calibri"/>
              </a:rPr>
              <a:t>Face on Tree</a:t>
            </a:r>
            <a:endParaRPr sz="1100">
              <a:solidFill>
                <a:srgbClr val="F3F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3F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65883"/>
            <a:ext cx="5524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2075408"/>
            <a:ext cx="55054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52450" y="275644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19125" y="275644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26,000 Images: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robust dataset split into 10 distinct classes (Dog, Cat, Spider, Butterfly, etc.).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52450" y="347082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19163" y="3467970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Standardization: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All images resized to </a:t>
            </a:r>
            <a:r>
              <a:rPr lang="en-US" sz="15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224x224 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pixels and normalized (0-1 pixel values).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52450" y="418519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19125" y="418519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 Augmentation: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prevent overfitting, the pipeline artificially expands the dataset by rotating, zooming, and flipping images during training.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Data: Animals-10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694533"/>
            <a:ext cx="35559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694533"/>
            <a:ext cx="35559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4900" y="2694533"/>
            <a:ext cx="355595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738848" y="3770858"/>
            <a:ext cx="8401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Train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66750" y="4437608"/>
            <a:ext cx="2984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built two distinct "brains": A naive model built from scratch, and an expert model using Transfer Learning (MobileNetV2), both trained on the Animals-10 dataset.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65809" y="3770858"/>
            <a:ext cx="660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Test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03700" y="4437608"/>
            <a:ext cx="2984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subjected both models to the standard Rorschach Inkblot Test, forcing them to classify the abstract images into one of 10 animal categories.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342715" y="3770858"/>
            <a:ext cx="138017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540650" y="4437608"/>
            <a:ext cx="2984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Using Grad-CAM (Gradient-weighted Class Activation Mapping), we visualized exactly which pixels activated the neural network's decision.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3150" y="303743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303743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75626" y="303743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Methodology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331025" y="427850"/>
            <a:ext cx="47157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Method</a:t>
            </a:r>
            <a:endParaRPr sz="320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208550" y="1614575"/>
            <a:ext cx="9774900" cy="451890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</a:rPr>
              <a:t>1. Data Collection (</a:t>
            </a: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data_pipeline.py</a:t>
            </a:r>
            <a:r>
              <a:rPr b="1" lang="en-US" sz="1300">
                <a:solidFill>
                  <a:srgbClr val="005088"/>
                </a:solidFill>
              </a:rPr>
              <a:t>)</a:t>
            </a:r>
            <a:endParaRPr b="1" sz="13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Source:</a:t>
            </a:r>
            <a:r>
              <a:rPr lang="en-US" sz="1100">
                <a:solidFill>
                  <a:srgbClr val="005088"/>
                </a:solidFill>
              </a:rPr>
              <a:t> We downloaded the "Animals-10" dataset from Kaggle, consisting of ~26,000 images across 10 animal classes (dog, cat, butterfly, etc.).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Preprocessing:</a:t>
            </a:r>
            <a:r>
              <a:rPr lang="en-US" sz="1100">
                <a:solidFill>
                  <a:srgbClr val="005088"/>
                </a:solidFill>
              </a:rPr>
              <a:t> We built a pipeline to resize all images to a uniform 224x224 pixels and normalized their pixel values (0-255) to a 0-1 range for faster model convergence.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Augmentation:</a:t>
            </a:r>
            <a:r>
              <a:rPr lang="en-US" sz="1100">
                <a:solidFill>
                  <a:srgbClr val="005088"/>
                </a:solidFill>
              </a:rPr>
              <a:t> We applied real-time data augmentation (rotation, zoom, flips) to the training set to artificially expand the dataset and prevent the models from memorizing specific images.</a:t>
            </a:r>
            <a:endParaRPr sz="1100">
              <a:solidFill>
                <a:srgbClr val="00508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</a:rPr>
              <a:t>2. Model Architectures</a:t>
            </a:r>
            <a:endParaRPr b="1" sz="1300">
              <a:solidFill>
                <a:srgbClr val="00508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5088"/>
                </a:solidFill>
              </a:rPr>
              <a:t>Model A: The Naive Student </a:t>
            </a:r>
            <a:r>
              <a:rPr b="1" lang="en-US" sz="1100">
                <a:solidFill>
                  <a:schemeClr val="dk1"/>
                </a:solidFill>
              </a:rPr>
              <a:t>(</a:t>
            </a: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model_scratch.py</a:t>
            </a:r>
            <a:r>
              <a:rPr b="1" lang="en-US" sz="1100">
                <a:solidFill>
                  <a:srgbClr val="005088"/>
                </a:solidFill>
              </a:rPr>
              <a:t>)</a:t>
            </a:r>
            <a:endParaRPr b="1"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Design:</a:t>
            </a:r>
            <a:r>
              <a:rPr lang="en-US" sz="1100">
                <a:solidFill>
                  <a:srgbClr val="005088"/>
                </a:solidFill>
              </a:rPr>
              <a:t> We built a Convolutional Neural Network (CNN) from scratch using three blocks of </a:t>
            </a:r>
            <a:r>
              <a:rPr lang="en-US" sz="1100">
                <a:solidFill>
                  <a:srgbClr val="005088"/>
                </a:solidFill>
                <a:latin typeface="Roboto Mono"/>
                <a:ea typeface="Roboto Mono"/>
                <a:cs typeface="Roboto Mono"/>
                <a:sym typeface="Roboto Mono"/>
              </a:rPr>
              <a:t>Conv2D</a:t>
            </a:r>
            <a:r>
              <a:rPr lang="en-US" sz="1100">
                <a:solidFill>
                  <a:srgbClr val="005088"/>
                </a:solidFill>
              </a:rPr>
              <a:t> and </a:t>
            </a:r>
            <a:r>
              <a:rPr lang="en-US" sz="1100">
                <a:solidFill>
                  <a:srgbClr val="005088"/>
                </a:solidFill>
                <a:latin typeface="Roboto Mono"/>
                <a:ea typeface="Roboto Mono"/>
                <a:cs typeface="Roboto Mono"/>
                <a:sym typeface="Roboto Mono"/>
              </a:rPr>
              <a:t>MaxPooling</a:t>
            </a:r>
            <a:r>
              <a:rPr lang="en-US" sz="1100">
                <a:solidFill>
                  <a:srgbClr val="005088"/>
                </a:solidFill>
              </a:rPr>
              <a:t> layers.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Purpose:</a:t>
            </a:r>
            <a:r>
              <a:rPr lang="en-US" sz="1100">
                <a:solidFill>
                  <a:srgbClr val="005088"/>
                </a:solidFill>
              </a:rPr>
              <a:t> This model started with randomized weights, meaning it had zero prior knowledge of the visual world.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Capacity:</a:t>
            </a:r>
            <a:r>
              <a:rPr lang="en-US" sz="1100">
                <a:solidFill>
                  <a:srgbClr val="005088"/>
                </a:solidFill>
              </a:rPr>
              <a:t> It is relatively shallow to represent a "naive" visual system with limited processing power.</a:t>
            </a:r>
            <a:endParaRPr sz="1100">
              <a:solidFill>
                <a:srgbClr val="00508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5088"/>
                </a:solidFill>
              </a:rPr>
              <a:t>Model B: The Expert (</a:t>
            </a: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model_transfer.py</a:t>
            </a:r>
            <a:r>
              <a:rPr b="1" lang="en-US" sz="1100">
                <a:solidFill>
                  <a:srgbClr val="005088"/>
                </a:solidFill>
              </a:rPr>
              <a:t>)</a:t>
            </a:r>
            <a:endParaRPr b="1"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Design:</a:t>
            </a:r>
            <a:r>
              <a:rPr lang="en-US" sz="1100">
                <a:solidFill>
                  <a:srgbClr val="005088"/>
                </a:solidFill>
              </a:rPr>
              <a:t> We utilized </a:t>
            </a:r>
            <a:r>
              <a:rPr b="1" lang="en-US" sz="1100">
                <a:solidFill>
                  <a:srgbClr val="005088"/>
                </a:solidFill>
              </a:rPr>
              <a:t>MobileNetV2</a:t>
            </a:r>
            <a:r>
              <a:rPr lang="en-US" sz="1100">
                <a:solidFill>
                  <a:srgbClr val="005088"/>
                </a:solidFill>
              </a:rPr>
              <a:t> as a base, a model pre-trained by Google on the massive ImageNet dataset (1.4 million images).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Transfer Learning:</a:t>
            </a:r>
            <a:r>
              <a:rPr lang="en-US" sz="1100">
                <a:solidFill>
                  <a:srgbClr val="005088"/>
                </a:solidFill>
              </a:rPr>
              <a:t> We froze the pre-trained "base" (the feature extractor) and added a custom classification "head" to learn our specific 10 animals.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Fine-Tuning:</a:t>
            </a:r>
            <a:r>
              <a:rPr lang="en-US" sz="1100">
                <a:solidFill>
                  <a:srgbClr val="005088"/>
                </a:solidFill>
              </a:rPr>
              <a:t> We unfroze the top layers of the base model and re-trained them with a tiny learning rate, allowing the expert features to adapt specifically to our animal classes.</a:t>
            </a:r>
            <a:endParaRPr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331025" y="427850"/>
            <a:ext cx="47157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Method</a:t>
            </a:r>
            <a:endParaRPr sz="320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999900" y="1473950"/>
            <a:ext cx="10192200" cy="407550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</a:rPr>
              <a:t>3. Training Process (</a:t>
            </a: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train.py</a:t>
            </a:r>
            <a:r>
              <a:rPr b="1" lang="en-US" sz="1300">
                <a:solidFill>
                  <a:srgbClr val="005088"/>
                </a:solidFill>
              </a:rPr>
              <a:t>)</a:t>
            </a:r>
            <a:endParaRPr b="1" sz="13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Dual Training Loop:</a:t>
            </a:r>
            <a:r>
              <a:rPr lang="en-US" sz="1100">
                <a:solidFill>
                  <a:srgbClr val="005088"/>
                </a:solidFill>
              </a:rPr>
              <a:t> We created a single script to train both models sequentially on the exact same data splits to ensure a fair comparison.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Model A Training:</a:t>
            </a:r>
            <a:r>
              <a:rPr lang="en-US" sz="1100">
                <a:solidFill>
                  <a:srgbClr val="005088"/>
                </a:solidFill>
              </a:rPr>
              <a:t> We trained the scratch model for 15 epochs, achieving a validation accuracy of ~62%, indicating it learned basic patterns but struggled with complexity.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Model B Training:</a:t>
            </a:r>
            <a:r>
              <a:rPr lang="en-US" sz="1100">
                <a:solidFill>
                  <a:srgbClr val="005088"/>
                </a:solidFill>
              </a:rPr>
              <a:t> We trained the transfer model in two phases (Head Training + Fine-Tuning), achieving a validation accuracy of ~96%, demonstrating superior visual understanding.</a:t>
            </a:r>
            <a:endParaRPr sz="1100">
              <a:solidFill>
                <a:srgbClr val="00508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</a:rPr>
              <a:t>4. Comparison &amp; Analysis (</a:t>
            </a: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predict_and_visualize.py</a:t>
            </a:r>
            <a:r>
              <a:rPr b="1" lang="en-US" sz="1300">
                <a:solidFill>
                  <a:srgbClr val="005088"/>
                </a:solidFill>
              </a:rPr>
              <a:t>)</a:t>
            </a:r>
            <a:endParaRPr b="1" sz="13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The Rorschach Test:</a:t>
            </a:r>
            <a:r>
              <a:rPr lang="en-US" sz="1100">
                <a:solidFill>
                  <a:srgbClr val="005088"/>
                </a:solidFill>
              </a:rPr>
              <a:t> We fed both trained models 10 standard Rorschach inkblot images (which they had never seen before) and recorded their top class predictions.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Grad-CAM Visualization:</a:t>
            </a:r>
            <a:r>
              <a:rPr lang="en-US" sz="1100">
                <a:solidFill>
                  <a:srgbClr val="005088"/>
                </a:solidFill>
              </a:rPr>
              <a:t> We used Gradient-weighted Class Activation Mapping to generate heatmaps, revealing exactly which pixels the models focused on to make their decisions.</a:t>
            </a:r>
            <a:endParaRPr sz="1100">
              <a:solidFill>
                <a:srgbClr val="0050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00"/>
              <a:buChar char="●"/>
            </a:pPr>
            <a:r>
              <a:rPr b="1" lang="en-US" sz="1100">
                <a:solidFill>
                  <a:srgbClr val="005088"/>
                </a:solidFill>
              </a:rPr>
              <a:t>Results:</a:t>
            </a:r>
            <a:r>
              <a:rPr lang="en-US" sz="1100">
                <a:solidFill>
                  <a:srgbClr val="005088"/>
                </a:solidFill>
              </a:rPr>
              <a:t> We compared the AI predictions to human norms (Exner system) and found that the "Expert" model saw complex shapes (like a Spider on Card 4), while the "Naive" model showed a strong bias toward simple symmetry (predicting "Butterfly" for most cards). </a:t>
            </a:r>
            <a:endParaRPr sz="1100">
              <a:solidFill>
                <a:srgbClr val="00508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571500" y="1235422"/>
            <a:ext cx="52008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Model A: The Naive Student</a:t>
            </a:r>
            <a:endParaRPr/>
          </a:p>
        </p:txBody>
      </p:sp>
      <p:pic>
        <p:nvPicPr>
          <p:cNvPr descr="image.png"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571500" y="2793652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Architecture: Custom CNN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571500" y="3317527"/>
            <a:ext cx="495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Built from scratch using basic Convolutional layers (Conv2D) and Max Pooling from tensor</a:t>
            </a:r>
            <a:r>
              <a:rPr lang="en-US" sz="11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flow</a:t>
            </a: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571500" y="4041427"/>
            <a:ext cx="52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Child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571500" y="456530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This model represents a brain with limited "life experience." It has only ever seen the training data and starts with zero prior knowledge. It struggles to learn complex features without massive amounts of data.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/>
        </p:nvSpPr>
        <p:spPr>
          <a:xfrm>
            <a:off x="571500" y="1235422"/>
            <a:ext cx="52008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B: The Expert</a:t>
            </a:r>
            <a:endParaRPr/>
          </a:p>
        </p:txBody>
      </p:sp>
      <p:pic>
        <p:nvPicPr>
          <p:cNvPr descr="image.png"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571500" y="2793652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Architecture: MobileNetV2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571500" y="3317527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Leveraging </a:t>
            </a:r>
            <a:r>
              <a:rPr b="1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Transfer Learning</a:t>
            </a:r>
            <a:r>
              <a:rPr b="0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we used a model pre-trained by Google on 1.4 million images (ImageNet).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571500" y="4041427"/>
            <a:ext cx="52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2400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Adult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571500" y="456530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model represents an "adult" brain. It already understands edges, textures, and shapes before it even sees our animals. We "fine-tuned" it to specialize in our specific task.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381000" y="1624905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 Accuracy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10529725" y="2757650"/>
            <a:ext cx="9771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57575"/>
                </a:solidFill>
                <a:latin typeface="DM Sans"/>
                <a:ea typeface="DM Sans"/>
                <a:cs typeface="DM Sans"/>
                <a:sym typeface="DM Sans"/>
              </a:rPr>
              <a:t>15 epochs</a:t>
            </a:r>
            <a:endParaRPr b="1" sz="1100">
              <a:solidFill>
                <a:srgbClr val="75757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10529725" y="4078675"/>
            <a:ext cx="977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57575"/>
                </a:solidFill>
                <a:latin typeface="DM Sans"/>
                <a:ea typeface="DM Sans"/>
                <a:cs typeface="DM Sans"/>
                <a:sym typeface="DM Sans"/>
              </a:rPr>
              <a:t>10 epochs</a:t>
            </a:r>
            <a:endParaRPr b="1" sz="1100">
              <a:solidFill>
                <a:srgbClr val="75757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45915"/>
            <a:ext cx="5524500" cy="4631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845915"/>
            <a:ext cx="5524500" cy="4631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762000" y="2226915"/>
            <a:ext cx="5000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Grad-CAM?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762000" y="2865603"/>
            <a:ext cx="47625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lt1"/>
                </a:solidFill>
              </a:rPr>
              <a:t>Grad-CAM (Gradient-weighted Class Activation Mapping) is a visualization method that shows </a:t>
            </a:r>
            <a:r>
              <a:rPr b="1" lang="en-US" sz="1100">
                <a:solidFill>
                  <a:schemeClr val="lt1"/>
                </a:solidFill>
              </a:rPr>
              <a:t>which regions of an image most strongly influenced a neural network’s prediction</a:t>
            </a:r>
            <a:r>
              <a:rPr lang="en-U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It works by measuring how important each pixel (or region) was for the specific class the model predicted.</a:t>
            </a:r>
            <a:br>
              <a:rPr lang="en-US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It produces a </a:t>
            </a:r>
            <a:r>
              <a:rPr b="1" lang="en-US" sz="1100">
                <a:solidFill>
                  <a:schemeClr val="lt1"/>
                </a:solidFill>
              </a:rPr>
              <a:t>heatmap </a:t>
            </a:r>
            <a:r>
              <a:rPr lang="en-US" sz="1100">
                <a:solidFill>
                  <a:schemeClr val="lt1"/>
                </a:solidFill>
              </a:rPr>
              <a:t>overlaid </a:t>
            </a:r>
            <a:r>
              <a:rPr lang="en-US" sz="1100">
                <a:solidFill>
                  <a:schemeClr val="lt1"/>
                </a:solidFill>
              </a:rPr>
              <a:t>on the original image: </a:t>
            </a:r>
            <a:r>
              <a:rPr lang="en-US" sz="1100">
                <a:solidFill>
                  <a:schemeClr val="lt1"/>
                </a:solidFill>
              </a:rPr>
              <a:t>red = high influence, blue = low influence.</a:t>
            </a:r>
            <a:br>
              <a:rPr lang="en-US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It’s like showing </a:t>
            </a:r>
            <a:r>
              <a:rPr i="1" lang="en-US" sz="1100">
                <a:solidFill>
                  <a:schemeClr val="lt1"/>
                </a:solidFill>
              </a:rPr>
              <a:t>where the model “looked”</a:t>
            </a:r>
            <a:r>
              <a:rPr lang="en-US" sz="1100">
                <a:solidFill>
                  <a:schemeClr val="lt1"/>
                </a:solidFill>
              </a:rPr>
              <a:t> when deciding what the image contains.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2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6667500" y="2226915"/>
            <a:ext cx="5000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Why use it?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6667500" y="2750790"/>
            <a:ext cx="4762500" cy="2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Grad-CAM helps us understand what the model is thinking. Specifically: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Interpretability</a:t>
            </a:r>
            <a:r>
              <a:rPr lang="en-US" sz="1100">
                <a:solidFill>
                  <a:schemeClr val="lt1"/>
                </a:solidFill>
              </a:rPr>
              <a:t> – It tells you </a:t>
            </a:r>
            <a:r>
              <a:rPr i="1" lang="en-US" sz="1100">
                <a:solidFill>
                  <a:schemeClr val="lt1"/>
                </a:solidFill>
              </a:rPr>
              <a:t>why</a:t>
            </a:r>
            <a:r>
              <a:rPr lang="en-US" sz="1100">
                <a:solidFill>
                  <a:schemeClr val="lt1"/>
                </a:solidFill>
              </a:rPr>
              <a:t> the model made its prediction.</a:t>
            </a:r>
            <a:br>
              <a:rPr lang="en-US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Verification</a:t>
            </a:r>
            <a:r>
              <a:rPr lang="en-US" sz="1100">
                <a:solidFill>
                  <a:schemeClr val="lt1"/>
                </a:solidFill>
              </a:rPr>
              <a:t> – You can check whether the model is using meaningful shapes or just focusing on background noise.</a:t>
            </a:r>
            <a:br>
              <a:rPr lang="en-US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Bias Detection</a:t>
            </a:r>
            <a:r>
              <a:rPr lang="en-US" sz="1100">
                <a:solidFill>
                  <a:schemeClr val="lt1"/>
                </a:solidFill>
              </a:rPr>
              <a:t> – A heatmap can reveal if the model cheated (e.g., always focusing on symmetrical features → “butterfly bias”).</a:t>
            </a:r>
            <a:br>
              <a:rPr lang="en-US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the Brain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4" title="Rorschach5.webp_ModelA.jpg"/>
          <p:cNvPicPr preferRelativeResize="0"/>
          <p:nvPr/>
        </p:nvPicPr>
        <p:blipFill rotWithShape="1">
          <a:blip r:embed="rId3">
            <a:alphaModFix/>
          </a:blip>
          <a:srcRect b="2821" l="0" r="0" t="2821"/>
          <a:stretch/>
        </p:blipFill>
        <p:spPr>
          <a:xfrm>
            <a:off x="6286500" y="2065883"/>
            <a:ext cx="5524499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381000" y="2918370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Naive Model's Confusion</a:t>
            </a:r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381000" y="344224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A guessed </a:t>
            </a: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"Butterfly"</a:t>
            </a: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for 6 out of the 10 cards, often with low confidence (~40-50%).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381000" y="4309030"/>
            <a:ext cx="552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Analysis:</a:t>
            </a: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Without deep feature recognition, the model likely defaulted to "Butterfly" simply because the Rorschach blots are symmetrical</a:t>
            </a:r>
            <a:r>
              <a:rPr lang="en-US" sz="11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primary feature of butterflies. It didn't "see" the ink; it just recognized the symmetry.</a:t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Result: The "Butterfly Bias"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/>
        </p:nvSpPr>
        <p:spPr>
          <a:xfrm>
            <a:off x="381000" y="2918370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The Expert Model's Perception</a:t>
            </a:r>
            <a:endParaRPr/>
          </a:p>
        </p:txBody>
      </p:sp>
      <p:sp>
        <p:nvSpPr>
          <p:cNvPr id="202" name="Google Shape;202;p25"/>
          <p:cNvSpPr txBox="1"/>
          <p:nvPr/>
        </p:nvSpPr>
        <p:spPr>
          <a:xfrm>
            <a:off x="381000" y="3442245"/>
            <a:ext cx="552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On Card 4 (often called the "Suicidal Giant"), Model B identified a </a:t>
            </a:r>
            <a:r>
              <a:rPr b="1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"Spider"</a:t>
            </a:r>
            <a:r>
              <a:rPr b="0" i="0" lang="en-US" sz="11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(56%).</a:t>
            </a:r>
            <a:endParaRPr/>
          </a:p>
        </p:txBody>
      </p:sp>
      <p:sp>
        <p:nvSpPr>
          <p:cNvPr id="203" name="Google Shape;203;p25"/>
          <p:cNvSpPr txBox="1"/>
          <p:nvPr/>
        </p:nvSpPr>
        <p:spPr>
          <a:xfrm>
            <a:off x="381000" y="4309020"/>
            <a:ext cx="5524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2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 B interpreted the heavy dark mass as resembling the features of a spider such as a central body and multiple radiating shapes. While the image is not actually a spider, the model’s prior experience makes this the closest learned match.</a:t>
            </a:r>
            <a:endParaRPr sz="1125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Result: The "Spider" Finding</a:t>
            </a:r>
            <a:endParaRPr/>
          </a:p>
        </p:txBody>
      </p:sp>
      <p:pic>
        <p:nvPicPr>
          <p:cNvPr id="205" name="Google Shape;205;p25" title="Rorschach4.webp_Model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850" y="4050298"/>
            <a:ext cx="3079949" cy="208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 title="Rorschach4.webp_Model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5847" y="1361872"/>
            <a:ext cx="3079949" cy="208037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8005850" y="3555775"/>
            <a:ext cx="2848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8005850" y="6244225"/>
            <a:ext cx="2848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26"/>
          <p:cNvGraphicFramePr/>
          <p:nvPr/>
        </p:nvGraphicFramePr>
        <p:xfrm>
          <a:off x="-75" y="-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{D6A8AADF-B224-42E3-868C-59CDC54D7AEF}</a:tableStyleId>
              </a:tblPr>
              <a:tblGrid>
                <a:gridCol w="1356800"/>
                <a:gridCol w="2254950"/>
                <a:gridCol w="2388725"/>
                <a:gridCol w="1356800"/>
                <a:gridCol w="2216750"/>
                <a:gridCol w="2618025"/>
              </a:tblGrid>
              <a:tr h="31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Rorschach</a:t>
                      </a:r>
                      <a:endParaRPr b="1" sz="1000">
                        <a:solidFill>
                          <a:srgbClr val="00508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A</a:t>
                      </a:r>
                      <a:endParaRPr b="1" sz="1000">
                        <a:solidFill>
                          <a:srgbClr val="00508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B</a:t>
                      </a:r>
                      <a:endParaRPr b="1" sz="1000">
                        <a:solidFill>
                          <a:srgbClr val="00508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Rorschach</a:t>
                      </a:r>
                      <a:endParaRPr b="1" sz="1000">
                        <a:solidFill>
                          <a:srgbClr val="00508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A</a:t>
                      </a:r>
                      <a:endParaRPr b="1" sz="1000">
                        <a:solidFill>
                          <a:srgbClr val="00508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B</a:t>
                      </a:r>
                      <a:endParaRPr b="1" sz="1000">
                        <a:solidFill>
                          <a:srgbClr val="00508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2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005088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10</a:t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05088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725" y="313650"/>
            <a:ext cx="2254949" cy="14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350" y="313650"/>
            <a:ext cx="2254949" cy="1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6300" y="1796449"/>
            <a:ext cx="1875789" cy="13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1925" y="1796450"/>
            <a:ext cx="1875789" cy="13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86250" y="3142750"/>
            <a:ext cx="1795890" cy="123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01874" y="3142727"/>
            <a:ext cx="1795899" cy="123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86251" y="4393827"/>
            <a:ext cx="1795899" cy="121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01875" y="4393838"/>
            <a:ext cx="1795899" cy="1213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39751" y="5623625"/>
            <a:ext cx="1688902" cy="12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55375" y="5623625"/>
            <a:ext cx="1688900" cy="12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58050" y="313641"/>
            <a:ext cx="1998886" cy="147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871838" y="397652"/>
            <a:ext cx="1998874" cy="14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19600" y="1825625"/>
            <a:ext cx="1875800" cy="1281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127575" y="1958350"/>
            <a:ext cx="1487349" cy="101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713825" y="3028325"/>
            <a:ext cx="1487349" cy="129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127588" y="3058750"/>
            <a:ext cx="1417475" cy="123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821374" y="4393725"/>
            <a:ext cx="1272225" cy="1179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0127600" y="4377100"/>
            <a:ext cx="1308105" cy="121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655250" y="5561475"/>
            <a:ext cx="1604480" cy="128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0098763" y="5623625"/>
            <a:ext cx="1545025" cy="123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56320"/>
            <a:ext cx="355595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756320"/>
            <a:ext cx="355595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4900" y="1756320"/>
            <a:ext cx="355595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2042070"/>
            <a:ext cx="2984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3700" y="2042070"/>
            <a:ext cx="2984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40650" y="2042070"/>
            <a:ext cx="29844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808732" y="4899570"/>
            <a:ext cx="27003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Original Stimulus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4795688" y="4899570"/>
            <a:ext cx="26003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Naive Perception</a:t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5381476" y="5566320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Unfocused, Guessing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8642627" y="4899570"/>
            <a:ext cx="278034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Expert Perception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9375576" y="5566320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Focused, Confident</a:t>
            </a:r>
            <a:endParaRPr/>
          </a:p>
        </p:txBody>
      </p:sp>
      <p:pic>
        <p:nvPicPr>
          <p:cNvPr descr="image.png" id="249" name="Google Shape;24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2051595"/>
            <a:ext cx="29654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3225" y="2051595"/>
            <a:ext cx="29654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50175" y="2051595"/>
            <a:ext cx="296540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Visual Difference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2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{D6A8AADF-B224-42E3-868C-59CDC54D7AEF}</a:tableStyleId>
              </a:tblPr>
              <a:tblGrid>
                <a:gridCol w="969300"/>
                <a:gridCol w="5165300"/>
                <a:gridCol w="2895125"/>
                <a:gridCol w="3009900"/>
              </a:tblGrid>
              <a:tr h="76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Card #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Standard Human Perception (Popular Responses)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Model A (Naive) Prediction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Model B (Expert) Prediction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Bat, Butterfly, Moth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Dog (55%)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Butterfly (50%)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Two Humans, Bear, Elephant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Chicken (99%)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Chicken (93%)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III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Two Humans (Waiters)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, Bowtie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Butterfly (86%)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Butterfly (29%)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IV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Animal Hide, Monster, Bigfoot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Butterfly (46%)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Spider (56%)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V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Bat, Butterfly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Butterfly (30%)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Spider (93%)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VI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Animal Hide, Rug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Dog (74%)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Cat (44%)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VII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Human Heads, Faces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Dog (27%)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Horse (34%)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VIII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Four-legged animals (Bears/Lions)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Butterfly (86%)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Butterfly (93%)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IX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Human Heads, Fire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 (Vague card)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Butterfly (68%)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Butterfly (61%)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X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Crab, Lobster, Spider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Butterfly (97%)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Butterfly (89%)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/>
          <p:nvPr/>
        </p:nvSpPr>
        <p:spPr>
          <a:xfrm>
            <a:off x="598650" y="1340300"/>
            <a:ext cx="10994700" cy="494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774600" y="2306443"/>
            <a:ext cx="10642800" cy="31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5088"/>
                </a:solidFill>
              </a:rPr>
              <a:t>Short answer: Not really, AI doesn’t </a:t>
            </a:r>
            <a:r>
              <a:rPr b="1" i="1" lang="en-US" sz="1100">
                <a:solidFill>
                  <a:srgbClr val="005088"/>
                </a:solidFill>
              </a:rPr>
              <a:t>experience</a:t>
            </a:r>
            <a:r>
              <a:rPr b="1" lang="en-US" sz="1100">
                <a:solidFill>
                  <a:srgbClr val="005088"/>
                </a:solidFill>
              </a:rPr>
              <a:t> anything.</a:t>
            </a:r>
            <a:endParaRPr b="1" sz="1100">
              <a:solidFill>
                <a:srgbClr val="005088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5088"/>
                </a:solidFill>
              </a:rPr>
              <a:t>But it can </a:t>
            </a:r>
            <a:r>
              <a:rPr b="1" lang="en-US" sz="1100">
                <a:solidFill>
                  <a:srgbClr val="005088"/>
                </a:solidFill>
              </a:rPr>
              <a:t>behave</a:t>
            </a:r>
            <a:r>
              <a:rPr lang="en-US" sz="1100">
                <a:solidFill>
                  <a:srgbClr val="005088"/>
                </a:solidFill>
              </a:rPr>
              <a:t> like pareidolia under the right conditions.</a:t>
            </a:r>
            <a:endParaRPr sz="1100">
              <a:solidFill>
                <a:srgbClr val="00508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5088"/>
                </a:solidFill>
              </a:rPr>
              <a:t>AI does not have subjective perception.</a:t>
            </a:r>
            <a:br>
              <a:rPr b="1" lang="en-US" sz="1100">
                <a:solidFill>
                  <a:srgbClr val="005088"/>
                </a:solidFill>
              </a:rPr>
            </a:br>
            <a:r>
              <a:rPr lang="en-US" sz="1100">
                <a:solidFill>
                  <a:srgbClr val="005088"/>
                </a:solidFill>
              </a:rPr>
              <a:t> It does not “see” or “hallucinate” it processes patterns mathematically.</a:t>
            </a:r>
            <a:br>
              <a:rPr lang="en-US" sz="1100">
                <a:solidFill>
                  <a:srgbClr val="005088"/>
                </a:solidFill>
              </a:rPr>
            </a:br>
            <a:endParaRPr sz="1100">
              <a:solidFill>
                <a:srgbClr val="0050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rgbClr val="005088"/>
                </a:solidFill>
              </a:rPr>
              <a:t>But</a:t>
            </a:r>
            <a:r>
              <a:rPr lang="en-US" sz="1100">
                <a:solidFill>
                  <a:srgbClr val="005088"/>
                </a:solidFill>
              </a:rPr>
              <a:t> neural networks are </a:t>
            </a:r>
            <a:r>
              <a:rPr b="1" lang="en-US" sz="1100">
                <a:solidFill>
                  <a:srgbClr val="005088"/>
                </a:solidFill>
              </a:rPr>
              <a:t>pattern-matching engines</a:t>
            </a:r>
            <a:r>
              <a:rPr lang="en-US" sz="1100">
                <a:solidFill>
                  <a:srgbClr val="005088"/>
                </a:solidFill>
              </a:rPr>
              <a:t>, so when forced to classify ambiguous noise…</a:t>
            </a:r>
            <a:br>
              <a:rPr lang="en-US" sz="1100">
                <a:solidFill>
                  <a:srgbClr val="005088"/>
                </a:solidFill>
              </a:rPr>
            </a:br>
            <a:r>
              <a:rPr lang="en-US" sz="1100">
                <a:solidFill>
                  <a:srgbClr val="005088"/>
                </a:solidFill>
              </a:rPr>
              <a:t> </a:t>
            </a:r>
            <a:r>
              <a:rPr b="1" lang="en-US" sz="1100">
                <a:solidFill>
                  <a:srgbClr val="005088"/>
                </a:solidFill>
              </a:rPr>
              <a:t>they project their learned categories onto it</a:t>
            </a:r>
            <a:r>
              <a:rPr lang="en-US" sz="1100">
                <a:solidFill>
                  <a:srgbClr val="005088"/>
                </a:solidFill>
              </a:rPr>
              <a:t>, similar to human pareidolia.</a:t>
            </a:r>
            <a:br>
              <a:rPr lang="en-US" sz="1100">
                <a:solidFill>
                  <a:srgbClr val="005088"/>
                </a:solidFill>
              </a:rPr>
            </a:br>
            <a:br>
              <a:rPr lang="en-US" sz="1100">
                <a:solidFill>
                  <a:srgbClr val="005088"/>
                </a:solidFill>
              </a:rPr>
            </a:br>
            <a:endParaRPr sz="1100">
              <a:solidFill>
                <a:srgbClr val="005088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5088"/>
                </a:solidFill>
              </a:rPr>
              <a:t>Conclusion:</a:t>
            </a:r>
            <a:br>
              <a:rPr b="1" lang="en-US" sz="1100">
                <a:solidFill>
                  <a:srgbClr val="005088"/>
                </a:solidFill>
              </a:rPr>
            </a:br>
            <a:r>
              <a:rPr lang="en-US" sz="1100">
                <a:solidFill>
                  <a:srgbClr val="005088"/>
                </a:solidFill>
              </a:rPr>
              <a:t> AI doesn’t truly </a:t>
            </a:r>
            <a:r>
              <a:rPr i="1" lang="en-US" sz="1100">
                <a:solidFill>
                  <a:srgbClr val="005088"/>
                </a:solidFill>
              </a:rPr>
              <a:t>experience</a:t>
            </a:r>
            <a:r>
              <a:rPr lang="en-US" sz="1100">
                <a:solidFill>
                  <a:srgbClr val="005088"/>
                </a:solidFill>
              </a:rPr>
              <a:t> pareidolia,</a:t>
            </a:r>
            <a:br>
              <a:rPr lang="en-US" sz="1100">
                <a:solidFill>
                  <a:srgbClr val="005088"/>
                </a:solidFill>
              </a:rPr>
            </a:br>
            <a:r>
              <a:rPr lang="en-US" sz="1100">
                <a:solidFill>
                  <a:srgbClr val="005088"/>
                </a:solidFill>
              </a:rPr>
              <a:t> but it can </a:t>
            </a:r>
            <a:r>
              <a:rPr b="1" lang="en-US" sz="1100">
                <a:solidFill>
                  <a:srgbClr val="005088"/>
                </a:solidFill>
              </a:rPr>
              <a:t>simulate the behavior</a:t>
            </a:r>
            <a:r>
              <a:rPr lang="en-US" sz="1100">
                <a:solidFill>
                  <a:srgbClr val="005088"/>
                </a:solidFill>
              </a:rPr>
              <a:t> because it is driven to map patterns onto categories—</a:t>
            </a:r>
            <a:br>
              <a:rPr lang="en-US" sz="1100">
                <a:solidFill>
                  <a:srgbClr val="005088"/>
                </a:solidFill>
              </a:rPr>
            </a:br>
            <a:r>
              <a:rPr lang="en-US" sz="1100">
                <a:solidFill>
                  <a:srgbClr val="005088"/>
                </a:solidFill>
              </a:rPr>
              <a:t> even when no real object exists.</a:t>
            </a:r>
            <a:endParaRPr sz="1100">
              <a:solidFill>
                <a:srgbClr val="00508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381000" y="381000"/>
            <a:ext cx="1181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Can AI Experience It?</a:t>
            </a:r>
            <a:endParaRPr sz="3000">
              <a:solidFill>
                <a:srgbClr val="F3F0D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/>
          <p:nvPr/>
        </p:nvSpPr>
        <p:spPr>
          <a:xfrm>
            <a:off x="381000" y="672405"/>
            <a:ext cx="11811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Improvements </a:t>
            </a:r>
            <a:endParaRPr/>
          </a:p>
        </p:txBody>
      </p:sp>
      <p:sp>
        <p:nvSpPr>
          <p:cNvPr id="270" name="Google Shape;270;p30"/>
          <p:cNvSpPr txBox="1"/>
          <p:nvPr/>
        </p:nvSpPr>
        <p:spPr>
          <a:xfrm>
            <a:off x="381000" y="1943400"/>
            <a:ext cx="9267000" cy="3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2150"/>
              <a:buFont typeface="Merriweather"/>
              <a:buChar char="●"/>
            </a:pPr>
            <a:r>
              <a:rPr b="1" lang="en-US" sz="215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Expand images to humans and objects and more animals</a:t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2150"/>
              <a:buFont typeface="Merriweather"/>
              <a:buChar char="●"/>
            </a:pPr>
            <a:r>
              <a:rPr b="1" lang="en-US" sz="215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Make an outline of each of the photos in the training model Because the inkblots are made 2D and the training data has much more depth in each image</a:t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F3F0DF"/>
              </a:buClr>
              <a:buSzPts val="2150"/>
              <a:buFont typeface="Merriweather"/>
              <a:buChar char="●"/>
            </a:pPr>
            <a:r>
              <a:rPr b="1" lang="en-US" sz="215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Making the last 3 inkblots in grayscale as the color could have had an impact on choosing a butterfly.</a:t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/>
        </p:nvSpPr>
        <p:spPr>
          <a:xfrm>
            <a:off x="1524000" y="1692771"/>
            <a:ext cx="91440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"Experience is the lens through which we perceive the world."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5505450" y="3258442"/>
            <a:ext cx="1181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/>
          </a:p>
        </p:txBody>
      </p:sp>
      <p:sp>
        <p:nvSpPr>
          <p:cNvPr id="277" name="Google Shape;277;p31"/>
          <p:cNvSpPr txBox="1"/>
          <p:nvPr/>
        </p:nvSpPr>
        <p:spPr>
          <a:xfrm>
            <a:off x="1524000" y="3839467"/>
            <a:ext cx="9144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For an AI to exhibit human-like pattern recognition in ambiguity (Pareidolia), it requires a massive foundation of prior experiential data. The naive mind sees only noise; the experienced mind sees meaning.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/>
        </p:nvSpPr>
        <p:spPr>
          <a:xfrm>
            <a:off x="190500" y="2659352"/>
            <a:ext cx="11811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Q&amp;A?</a:t>
            </a:r>
            <a:endParaRPr b="1"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